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Red Hat Mono"/>
      <p:regular r:id="rId201315"/>
    </p:embeddedFont>
    <p:embeddedFont>
      <p:font typeface="Red Hat Mono Bold"/>
      <p:regular r:id="rId201316"/>
    </p:embeddedFont>
    <p:embeddedFont>
      <p:font typeface="Red Hat Text SemiBold"/>
      <p:regular r:id="rId201317"/>
    </p:embeddedFont>
    <p:embeddedFont>
      <p:font typeface="Red Hat Text Bold"/>
      <p:regular r:id="rId201318"/>
    </p:embeddedFont>
    <p:embeddedFont>
      <p:font typeface="Red Hat Text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merge sort as a three-part pattern. The key intuition is that the algorithm changes the shape of the problem before it solves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base case. Recursion is safe here because the problem gets smaller until no work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top to bottom. The exact split boundaries are less important than the invariant: every branch keeps shrinking, and no branch can shrink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merging as a local, procedural action. At every moment, only the front elements of the two sorted halves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an engineering decision, not a universal winner. Merge sort is attractive when predictable performance and stability matter more than minimizing auxiliary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intuition rather than adding another implementation detail. The algorithm works because each decision is simple enough to make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B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3E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946448"/>
            <a:ext cx="711182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00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IT ALGORITHM · SORTING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337703"/>
            <a:ext cx="6502237" cy="2797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Merge Sort:</a:t>
            </a:r>
            <a:endParaRPr lang="en-US" sz="7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Divide, Conquer,</a:t>
            </a:r>
            <a:endParaRPr lang="en-US" sz="7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Combine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09585" y="4371876"/>
            <a:ext cx="2145651" cy="50701"/>
          </a:xfrm>
          <a:prstGeom prst="roundRect">
            <a:avLst>
              <a:gd name="adj" fmla="val 49999"/>
            </a:avLst>
          </a:prstGeom>
          <a:solidFill>
            <a:srgbClr val="3E4A44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700933"/>
            <a:ext cx="6502237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</a:t>
            </a:r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predictable</a:t>
            </a:r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way to turn one hard problem into many </a:t>
            </a:r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small decisions</a:t>
            </a:r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585" y="5688469"/>
            <a:ext cx="71118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000000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merge_sort(array)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9" name="Text 7"/>
          <p:cNvSpPr/>
          <p:nvPr/>
        </p:nvSpPr>
        <p:spPr>
          <a:xfrm>
            <a:off x="8559586" y="431800"/>
            <a:ext cx="694812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59586" y="786291"/>
            <a:ext cx="279393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Divide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59586" y="1305020"/>
            <a:ext cx="2793930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Split the array into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smaller halves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59586" y="2565400"/>
            <a:ext cx="754441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59586" y="2919891"/>
            <a:ext cx="279393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Conquer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59586" y="3438620"/>
            <a:ext cx="2793930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Sort each half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recursively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59586" y="4699000"/>
            <a:ext cx="754441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59586" y="5053491"/>
            <a:ext cx="279393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Combine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59586" y="5572220"/>
            <a:ext cx="2793930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Merge the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sorted pieces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950001" y="2355850"/>
            <a:ext cx="4013100" cy="1270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0001" y="4489450"/>
            <a:ext cx="4013100" cy="12700"/>
          </a:xfrm>
          <a:prstGeom prst="rect">
            <a:avLst/>
          </a:prstGeom>
          <a:solidFill>
            <a:srgbClr val="F4B23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271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Why Merge Sort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37589"/>
            <a:ext cx="1158211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algorithm repeatedly trades scale for simplicity.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2083991"/>
            <a:ext cx="857427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09585" y="2438482"/>
            <a:ext cx="30174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Split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2957211"/>
            <a:ext cx="301746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Divide the array into two halves.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84238" y="2083991"/>
            <a:ext cx="91338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084238" y="2438482"/>
            <a:ext cx="30174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Solve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84238" y="2957211"/>
            <a:ext cx="3017464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Apply the same rule recursively to each smaller subproblem.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4410869"/>
            <a:ext cx="9180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9585" y="4765360"/>
            <a:ext cx="30174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Stop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9585" y="5284089"/>
            <a:ext cx="301746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list with zero or one element is already sorted.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084238" y="4410869"/>
            <a:ext cx="93322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7C463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084238" y="4765360"/>
            <a:ext cx="30174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Merge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084238" y="5284089"/>
            <a:ext cx="3017464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Combine the sorted halves.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253999" y="2083991"/>
            <a:ext cx="4328111" cy="4196556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17" name="Text 15"/>
          <p:cNvSpPr/>
          <p:nvPr/>
        </p:nvSpPr>
        <p:spPr>
          <a:xfrm>
            <a:off x="7482593" y="3685278"/>
            <a:ext cx="3870923" cy="998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Key idea.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Replace one hard problem with smaller, easier problems.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849294" y="2083991"/>
            <a:ext cx="12700" cy="2098278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4175919"/>
            <a:ext cx="3246059" cy="12700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9294" y="4182269"/>
            <a:ext cx="12700" cy="2098278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3855643" y="4175919"/>
            <a:ext cx="3246059" cy="12700"/>
          </a:xfrm>
          <a:prstGeom prst="rect">
            <a:avLst/>
          </a:prstGeom>
          <a:solidFill>
            <a:srgbClr val="3E4A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271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Worked Example: Split Until Trivial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37589"/>
            <a:ext cx="1158211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Trace the array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[38, 27, 43, 3, 9, 82, 10]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as it splits into smaller subarrays.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2083991"/>
            <a:ext cx="3657509" cy="3382764"/>
          </a:xfrm>
          <a:custGeom>
            <a:avLst/>
            <a:gdLst/>
            <a:ahLst/>
            <a:cxnLst/>
            <a:rect l="l" t="t" r="r" b="b"/>
            <a:pathLst>
              <a:path w="3657509" h="3382764">
                <a:moveTo>
                  <a:pt x="30162" y="0"/>
                </a:moveTo>
                <a:lnTo>
                  <a:pt x="3657509" y="0"/>
                </a:lnTo>
                <a:lnTo>
                  <a:pt x="3657509" y="3382764"/>
                </a:lnTo>
                <a:lnTo>
                  <a:pt x="30162" y="3382764"/>
                </a:lnTo>
                <a:arcTo hR="30163" wR="30162" stAng="5400000" swAng="5400000"/>
                <a:lnTo>
                  <a:pt x="0" y="30163"/>
                </a:lnTo>
                <a:arcTo hR="30163" wR="30162" stAng="10800000" swAng="5400000"/>
                <a:close/>
              </a:path>
            </a:pathLst>
          </a:custGeom>
          <a:solidFill>
            <a:srgbClr val="3E4A44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322909"/>
            <a:ext cx="342891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LEVEL 0 · ORIGINAL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2662285"/>
            <a:ext cx="3657509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38, 27, 43, 3, 9, 82, 10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585" y="3188057"/>
            <a:ext cx="36575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▼ split into halves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95688" y="2322909"/>
            <a:ext cx="342891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LEVEL 1 · TWO HALVES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95688" y="2658666"/>
            <a:ext cx="3200221" cy="1213545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88" y="2890885"/>
            <a:ext cx="3200221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38, 27, 43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95688" y="3416657"/>
            <a:ext cx="320022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LEFT HALF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95688" y="4024610"/>
            <a:ext cx="3200221" cy="1213545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3" name="Text 11"/>
          <p:cNvSpPr/>
          <p:nvPr/>
        </p:nvSpPr>
        <p:spPr>
          <a:xfrm>
            <a:off x="4495688" y="4256830"/>
            <a:ext cx="3200221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3, 9, 82, 10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95688" y="4782602"/>
            <a:ext cx="320022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RIGHT HALF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3196" y="2322909"/>
            <a:ext cx="342891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LEVEL 2 · SMALLER SUBARRAYS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3196" y="2658666"/>
            <a:ext cx="1638259" cy="790178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17" name="Text 15"/>
          <p:cNvSpPr/>
          <p:nvPr/>
        </p:nvSpPr>
        <p:spPr>
          <a:xfrm>
            <a:off x="8153196" y="2889742"/>
            <a:ext cx="163825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38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943851" y="2658666"/>
            <a:ext cx="1638259" cy="790178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19" name="Text 17"/>
          <p:cNvSpPr/>
          <p:nvPr/>
        </p:nvSpPr>
        <p:spPr>
          <a:xfrm>
            <a:off x="9943851" y="2889742"/>
            <a:ext cx="163825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27, 43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153196" y="3601244"/>
            <a:ext cx="1638259" cy="790178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21" name="Text 19"/>
          <p:cNvSpPr/>
          <p:nvPr/>
        </p:nvSpPr>
        <p:spPr>
          <a:xfrm>
            <a:off x="8153196" y="3832320"/>
            <a:ext cx="163825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3, 9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943851" y="3601244"/>
            <a:ext cx="1638259" cy="790178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23" name="Text 21"/>
          <p:cNvSpPr/>
          <p:nvPr/>
        </p:nvSpPr>
        <p:spPr>
          <a:xfrm>
            <a:off x="9943851" y="3832320"/>
            <a:ext cx="163825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82, 10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585" y="5686782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Continue dividing until every subarray has one element. Every branch ends at a one-element array—the recursion's stopping point.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60743" y="2083991"/>
            <a:ext cx="12700" cy="3382764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6" name="Shape 24"/>
          <p:cNvSpPr/>
          <p:nvPr/>
        </p:nvSpPr>
        <p:spPr>
          <a:xfrm>
            <a:off x="7918252" y="2083991"/>
            <a:ext cx="12700" cy="3382764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271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Merge: The Sorted Pieces Come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37589"/>
            <a:ext cx="1158211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Compare the front element of each sorted half, copy the smaller one, and advance that pointer.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2083991"/>
            <a:ext cx="3454314" cy="3717429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312591"/>
            <a:ext cx="857427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38179" y="2650430"/>
            <a:ext cx="2997125" cy="1905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824559"/>
            <a:ext cx="322571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01 · COMPARE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8179" y="3133807"/>
            <a:ext cx="299712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[3] · [27]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179" y="3658886"/>
            <a:ext cx="322571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 is smaller, so copy it first.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4132707"/>
            <a:ext cx="3454314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3    27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68691" y="2083991"/>
            <a:ext cx="3454314" cy="3717429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97285" y="2312591"/>
            <a:ext cx="913385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97285" y="2650430"/>
            <a:ext cx="2997125" cy="1905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14" name="Text 12"/>
          <p:cNvSpPr/>
          <p:nvPr/>
        </p:nvSpPr>
        <p:spPr>
          <a:xfrm>
            <a:off x="4597285" y="2824559"/>
            <a:ext cx="322571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02 · ADVANCE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7285" y="3133807"/>
            <a:ext cx="299712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[38] · [43]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97285" y="3652536"/>
            <a:ext cx="2997125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38 wins the next comparison.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368691" y="4459335"/>
            <a:ext cx="3454314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38    43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27797" y="2083991"/>
            <a:ext cx="3454314" cy="3717429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19" name="Text 17"/>
          <p:cNvSpPr/>
          <p:nvPr/>
        </p:nvSpPr>
        <p:spPr>
          <a:xfrm>
            <a:off x="8356391" y="2312591"/>
            <a:ext cx="9180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03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356391" y="2650430"/>
            <a:ext cx="2997125" cy="19050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21" name="Text 19"/>
          <p:cNvSpPr/>
          <p:nvPr/>
        </p:nvSpPr>
        <p:spPr>
          <a:xfrm>
            <a:off x="8356391" y="2824559"/>
            <a:ext cx="322571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03 · COMBINE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56391" y="3133807"/>
            <a:ext cx="2997125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Keep moving upward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56391" y="4012105"/>
            <a:ext cx="2997125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Repeat until both halves are exhausted.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127797" y="4818904"/>
            <a:ext cx="3454314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3 9 10 27 38 43 82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9585" y="602144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Merge [3] with [27] → [3, 27]. Merge [38] with [43] → [38, 43]. Continue upward until the full array is sorted.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4271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Complexity and Engineering Trade-offs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537589"/>
            <a:ext cx="1158211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Merge sort gives up some memory to make runtime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predictable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2083991"/>
            <a:ext cx="3454314" cy="3180655"/>
          </a:xfrm>
          <a:prstGeom prst="rect">
            <a:avLst/>
          </a:prstGeom>
          <a:solidFill>
            <a:srgbClr val="F4B23E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236391"/>
            <a:ext cx="694812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111A20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1981" y="2586434"/>
            <a:ext cx="330191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000000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981" y="2958299"/>
            <a:ext cx="3149521" cy="7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168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O(n log n)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61981" y="3846905"/>
            <a:ext cx="314952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Best, average, and worst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cases share the same bound.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1981" y="4654213"/>
            <a:ext cx="314952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Each level processes all n elements across log n levels.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1" y="2083991"/>
            <a:ext cx="3454314" cy="3180655"/>
          </a:xfrm>
          <a:prstGeom prst="rect">
            <a:avLst/>
          </a:prstGeom>
          <a:solidFill>
            <a:srgbClr val="3A7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1087" y="2236391"/>
            <a:ext cx="754441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1087" y="2586434"/>
            <a:ext cx="330191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EXTRA SPACE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1087" y="2958299"/>
            <a:ext cx="3149521" cy="72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16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O(n)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21087" y="3846905"/>
            <a:ext cx="314952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Typically needs an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auxiliary array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during merging.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21087" y="4654213"/>
            <a:ext cx="3149521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merge step copies values into temporary storage.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7797" y="2083991"/>
            <a:ext cx="3454314" cy="3180655"/>
          </a:xfrm>
          <a:prstGeom prst="rect">
            <a:avLst/>
          </a:prstGeom>
          <a:solidFill>
            <a:srgbClr val="3E4A44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3" y="2236391"/>
            <a:ext cx="754441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 SemiBold" pitchFamily="34" charset="0"/>
                <a:ea typeface="Red Hat Text SemiBold" pitchFamily="34" charset="-122"/>
                <a:cs typeface="Red Hat Text SemiBold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0193" y="2586434"/>
            <a:ext cx="330191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STABILITY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0193" y="2895682"/>
            <a:ext cx="3149521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Predictable and stable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80193" y="3773980"/>
            <a:ext cx="314952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Equal keys can keep their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original order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09585" y="5480546"/>
            <a:ext cx="10972526" cy="936228"/>
          </a:xfrm>
          <a:prstGeom prst="roundRect">
            <a:avLst>
              <a:gd name="adj" fmla="val 3866"/>
            </a:avLst>
          </a:prstGeom>
          <a:solidFill>
            <a:srgbClr val="4B3F0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5818684"/>
            <a:ext cx="301617" cy="2413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93790" y="5784648"/>
            <a:ext cx="10556611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Trade-off: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more memory and copying than in-place methods.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4198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15453"/>
            <a:ext cx="10972526" cy="2797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Small decisions</a:t>
            </a:r>
            <a:endParaRPr lang="en-US" sz="7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make large problems </a:t>
            </a:r>
            <a:pPr algn="l" indent="0" marL="0">
              <a:lnSpc>
                <a:spcPct val="85000"/>
              </a:lnSpc>
              <a:buNone/>
            </a:pPr>
            <a:r>
              <a:rPr lang="en-US" sz="7200" b="1" spc="-108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manageable.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09585" y="4151213"/>
            <a:ext cx="7351429" cy="76200"/>
          </a:xfrm>
          <a:prstGeom prst="roundRect">
            <a:avLst>
              <a:gd name="adj" fmla="val 49999"/>
            </a:avLst>
          </a:prstGeom>
          <a:solidFill>
            <a:srgbClr val="F4B23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507258"/>
            <a:ext cx="10972526" cy="77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Merge sort turns a large sorting problem into a sequence of small, manageable decisions.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5494794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Divide the work. Solve the pieces. Combine them in order.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594796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MADE BY GAMMA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2026-10-20T12:01:14Z</dcterms:created>
  <dcterms:modified xsi:type="dcterms:W3CDTF">2026-10-20T12:01:14Z</dcterms:modified>
</cp:coreProperties>
</file>